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3291840"/>
          </a:xfrm>
          <a:prstGeom prst="ellipse">
            <a:avLst/>
          </a:prstGeom>
          <a:solidFill>
            <a:srgbClr val="3B2F25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937760"/>
            <a:ext cx="2560320" cy="2560320"/>
          </a:xfrm>
          <a:prstGeom prst="ellipse">
            <a:avLst/>
          </a:prstGeom>
          <a:solidFill>
            <a:srgbClr val="3B2F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OrangeHRM Test Automation Framework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UI automation framework built with Selenium, TestNG &amp; Allure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5257800"/>
            <a:ext cx="3200400" cy="0"/>
          </a:xfrm>
          <a:prstGeom prst="line">
            <a:avLst/>
          </a:prstGeom>
          <a:noFill/>
          <a:ln w="31750">
            <a:solidFill>
              <a:srgbClr val="F5811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3664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Motivation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883664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83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86600" y="1737360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34640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34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2688336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17920" y="2688336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834640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34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86600" y="2688336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785616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785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3639312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217920" y="3639312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785616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785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86600" y="3639312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0080" y="4590288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736592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736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08760" y="4590288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Logging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217920" y="4590288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736592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736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086600" y="4590288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Best Practices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40080" y="5541264"/>
            <a:ext cx="5349240" cy="768096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5687568"/>
            <a:ext cx="475488" cy="475488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687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508760" y="5541264"/>
            <a:ext cx="4343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— and Why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widely-used OOP language with a mature testing ecosystem.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37160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5087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4.44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9385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browser automation — controls Chrome like a real user.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7.12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4930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test lifecycle, annotations, and suites with flexible execution.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92608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92608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0632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2.24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4930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results into rich, visual reports with steps &amp; screenshots.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8056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17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2.26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04748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multi-level logging for fast debugging and audit trails.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4480560"/>
            <a:ext cx="5349240" cy="13258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4480560"/>
            <a:ext cx="82296" cy="1325880"/>
          </a:xfrm>
          <a:prstGeom prst="rect">
            <a:avLst/>
          </a:prstGeom>
          <a:solidFill>
            <a:srgbClr val="F5811F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617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504748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dependencies and builds with a standard project structure.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layered design built on the Page Object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680960" cy="914400"/>
          </a:xfrm>
          <a:prstGeom prst="rect">
            <a:avLst/>
          </a:prstGeom>
          <a:solidFill>
            <a:srgbClr val="3B2F25"/>
          </a:solidFill>
          <a:ln w="12700">
            <a:solidFill>
              <a:srgbClr val="554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65960"/>
            <a:ext cx="548640" cy="548640"/>
          </a:xfrm>
          <a:prstGeom prst="ellipse">
            <a:avLst/>
          </a:prstGeom>
          <a:solidFill>
            <a:srgbClr val="2A21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0848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0195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 (TestNG)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5856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LoginTest · CreateEmployeeTest · AssignClaimTest …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2679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811F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862072"/>
            <a:ext cx="7680960" cy="914400"/>
          </a:xfrm>
          <a:prstGeom prst="rect">
            <a:avLst/>
          </a:prstGeom>
          <a:solidFill>
            <a:srgbClr val="3B2F25"/>
          </a:solidFill>
          <a:ln w="12700">
            <a:solidFill>
              <a:srgbClr val="5546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3044952"/>
            <a:ext cx="548640" cy="548640"/>
          </a:xfrm>
          <a:prstGeom prst="ellipse">
            <a:avLst/>
          </a:prstGeom>
          <a:solidFill>
            <a:srgbClr val="2A211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1638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9809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Layer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3337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· DashboardPage · CreateEmployeePage …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80560" y="37581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811F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3941064"/>
            <a:ext cx="7680960" cy="914400"/>
          </a:xfrm>
          <a:prstGeom prst="rect">
            <a:avLst/>
          </a:prstGeom>
          <a:solidFill>
            <a:srgbClr val="3B2F25"/>
          </a:solidFill>
          <a:ln w="12700">
            <a:solidFill>
              <a:srgbClr val="5546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1560" y="4123944"/>
            <a:ext cx="548640" cy="548640"/>
          </a:xfrm>
          <a:prstGeom prst="ellipse">
            <a:avLst/>
          </a:prstGeom>
          <a:solidFill>
            <a:srgbClr val="2A211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24281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0599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Layer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28800" y="4416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· Elements · Logs · Screenshots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480560" y="48371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811F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5020056"/>
            <a:ext cx="7680960" cy="914400"/>
          </a:xfrm>
          <a:prstGeom prst="rect">
            <a:avLst/>
          </a:prstGeom>
          <a:solidFill>
            <a:srgbClr val="3B2F25"/>
          </a:solidFill>
          <a:ln w="12700">
            <a:solidFill>
              <a:srgbClr val="5546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51560" y="5202936"/>
            <a:ext cx="548640" cy="548640"/>
          </a:xfrm>
          <a:prstGeom prst="ellipse">
            <a:avLst/>
          </a:prstGeom>
          <a:solidFill>
            <a:srgbClr val="2A211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532180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2880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Infrastructure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828800" y="5495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WebDriver (Chrome) via ThreadLocal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96112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8961120" y="22860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— UI separated from test logic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Interface — readable method chaining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(ThreadLocal) — thread-safe driver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/ Helper — centralized reusable code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WebDriver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 driver management enables safe parallel execution with auto setup &amp; teardown.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8653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737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Element Interaction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Auto-waiting, JS scrolling, dropdown &amp; input helpers for reliable, stable actions.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141732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8653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737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Waits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2104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visibility, clickability, and URL waits — no fragile Thread.sleep().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79476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4069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2428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4114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Logging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4400" y="4937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Multi-level, date-stamped Log4j2 logs with automatic calling-class detection.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43400" y="379476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4069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24281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4114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&amp; Reports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17720" y="4937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screenshots auto-attached to Allure for visual evidence of failures.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046720" y="3794760"/>
            <a:ext cx="3429000" cy="214884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1040" y="4069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24281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9720" y="4114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 Negative Tests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21040" y="4937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valid and invalid scenarios covered for broader, more honest coverage.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approach, and criteria that guided the testing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core HR features work correctly via automated UI tests and enable fast, repeatable regression.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4767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659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logout, employee management, claims, and posts — functional UI flows.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4767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659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security, API, and mobile testing — planned as future work.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8795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2062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Approach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functional testing with the Page Object Model; positive &amp; negative cases.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8795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2062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OrangeHRM demo site on Chrome; Java 21, Maven build, executed locally.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429000" cy="2011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187952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D9B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2062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Criteria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app live &amp; framework built. Done: all tests run, Allure report generated, defects triaged.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scenarios across the core HR modules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12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login · invalid username · invalid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logout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Mgmt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CreateEmployeeTest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creation · missing first name (negative)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Mgmt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DeleteEmployeeTest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deletion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AssignClaimTest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assignment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CreatePostTest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creation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989320"/>
            <a:ext cx="3429000" cy="6400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6035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pPr indent="0" marL="0">
              <a:buNone/>
            </a:pPr>
            <a:r>
              <a:rPr lang="en-US" sz="13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297680" y="5989320"/>
            <a:ext cx="3429000" cy="6400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6035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indent="0" marL="0">
              <a:buNone/>
            </a:pPr>
            <a:r>
              <a:rPr lang="en-US" sz="13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955280" y="5989320"/>
            <a:ext cx="3566160" cy="6400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6035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+/− </a:t>
            </a:r>
            <a:pPr indent="0" marL="0">
              <a:buNone/>
            </a:pPr>
            <a:r>
              <a:rPr lang="en-US" sz="13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paths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Logging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clear, shareable evidence of quality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ect">
            <a:avLst/>
          </a:prstGeom>
          <a:solidFill>
            <a:srgbClr val="2A211B"/>
          </a:solidFill>
          <a:ln/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868680" cy="868680"/>
          </a:xfrm>
          <a:prstGeom prst="ellipse">
            <a:avLst/>
          </a:prstGeom>
          <a:solidFill>
            <a:srgbClr val="3B2F2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957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reports: pass/fail stats, execution timeline, detailed steps, and attached screenshots.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429000" cy="3200400"/>
          </a:xfrm>
          <a:prstGeom prst="rect">
            <a:avLst/>
          </a:prstGeom>
          <a:solidFill>
            <a:srgbClr val="2A211B"/>
          </a:solidFill>
          <a:ln/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94560"/>
            <a:ext cx="868680" cy="868680"/>
          </a:xfrm>
          <a:prstGeom prst="ellipse">
            <a:avLst/>
          </a:prstGeom>
          <a:solidFill>
            <a:srgbClr val="3B2F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957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Date-stamped Log4j2 files with multi-level detail — a full audit trail per execution.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3200400"/>
          </a:xfrm>
          <a:prstGeom prst="rect">
            <a:avLst/>
          </a:prstGeom>
          <a:solidFill>
            <a:srgbClr val="2A211B"/>
          </a:solidFill>
          <a:ln/>
          <a:effectLst>
            <a:outerShdw sx="100000" sy="100000" kx="0" ky="0" algn="bl" rotWithShape="0" blurRad="101600" dist="38100" dir="8100000">
              <a:srgbClr val="2A211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94560"/>
            <a:ext cx="868680" cy="868680"/>
          </a:xfrm>
          <a:prstGeom prst="ellipse">
            <a:avLst/>
          </a:prstGeom>
          <a:solidFill>
            <a:srgbClr val="3B2F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3957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37947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captures saved and auto-attached to reports as visual proof, especially on failure.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349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a single command: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solidFill>
            <a:srgbClr val="1E1813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7332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  →   allure serve test-outputs/allure-results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Demonstrates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00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for clean separation &amp; easy maintenance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105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600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interfaces for readable, chainable test code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60604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86207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6517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enabling reliable parallel execution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217920" y="260604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862072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160" y="26517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 instead of fragile fixed sleeps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365760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913632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7033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utilities following the DRY principle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217920" y="365760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913632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95160" y="37033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logging for fast debugging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40080" y="470916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965192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417320" y="47548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testing for honest coverage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217920" y="4709160"/>
            <a:ext cx="5349240" cy="868680"/>
          </a:xfrm>
          <a:prstGeom prst="rect">
            <a:avLst/>
          </a:prstGeom>
          <a:solidFill>
            <a:srgbClr val="FFF4EA"/>
          </a:solidFill>
          <a:ln w="12700">
            <a:solidFill>
              <a:srgbClr val="F0E0CE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965192"/>
            <a:ext cx="365760" cy="3657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47548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Maven-managed build with standard project structure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3B2F2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914400"/>
            <a:ext cx="2743200" cy="2743200"/>
          </a:xfrm>
          <a:prstGeom prst="ellipse">
            <a:avLst/>
          </a:prstGeom>
          <a:solidFill>
            <a:srgbClr val="3B2F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22576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286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support (Firefox, Edge, Safari)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22576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29400" y="2286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 via Excel / CSV / JSON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9125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3154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at scale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191256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29400" y="3154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(GitHub Actions, Jenkins)</a:t>
            </a:r>
            <a:endParaRPr lang="en-US" sz="14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59936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34440" y="4023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&amp; database validation layers</a:t>
            </a:r>
            <a:endParaRPr lang="en-US" sz="14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059936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29400" y="4023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450" dirty="0"/>
          </a:p>
        </p:txBody>
      </p:sp>
      <p:sp>
        <p:nvSpPr>
          <p:cNvPr id="18" name="Shape 9"/>
          <p:cNvSpPr/>
          <p:nvPr/>
        </p:nvSpPr>
        <p:spPr>
          <a:xfrm>
            <a:off x="868680" y="5394960"/>
            <a:ext cx="3200400" cy="0"/>
          </a:xfrm>
          <a:prstGeom prst="line">
            <a:avLst/>
          </a:prstGeom>
          <a:noFill/>
          <a:ln w="31750">
            <a:solidFill>
              <a:srgbClr val="F5811F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40080" y="5532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0" name="Text 11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github.com/saqajr/orangeHRM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OrangeHRM Test Automation Framework</dc:title>
  <dc:subject>PptxGenJS Presentation</dc:subject>
  <dc:creator>OrangeHRM Test Automation</dc:creator>
  <cp:lastModifiedBy>OrangeHRM Test Automation</cp:lastModifiedBy>
  <cp:revision>1</cp:revision>
  <dcterms:created xsi:type="dcterms:W3CDTF">2026-06-20T11:55:48Z</dcterms:created>
  <dcterms:modified xsi:type="dcterms:W3CDTF">2026-06-20T11:55:48Z</dcterms:modified>
</cp:coreProperties>
</file>